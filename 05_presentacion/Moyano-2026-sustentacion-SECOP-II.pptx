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7" r:id="rId9"/>
    <p:sldId id="275" r:id="rId10"/>
    <p:sldId id="264" r:id="rId11"/>
    <p:sldId id="265" r:id="rId12"/>
    <p:sldId id="274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62" r:id="rId21"/>
  </p:sldIdLst>
  <p:sldSz cx="9144000" cy="5143500" type="screen16x9"/>
  <p:notesSz cx="6858000" cy="9144000"/>
  <p:embeddedFontLst>
    <p:embeddedFont>
      <p:font typeface="Abadi" panose="020B0604020104020204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</p:embeddedFont>
    <p:embeddedFont>
      <p:font typeface="Montserrat Medium" panose="00000600000000000000" pitchFamily="2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o6qhnTFxjeSPEMLlgimQZodRa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510" autoAdjust="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"Buenos días/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tardes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. Mi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nombre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es 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John Dagoberto Moyano Duarte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, </a:t>
            </a:r>
            <a:b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</a:br>
            <a:b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</a:b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candidato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a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Especialista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en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Gobierno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Datos de la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Facultad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Ingeniería de Sistemas de la Universidad Antonio Nariño. Hoy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presento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mi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trabajo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grado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titulado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'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Visualización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posibles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anomalías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en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la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contratación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estatal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a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partir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datos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abiertos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SECOP II'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dirigido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por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el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Doctor Elio Higinio Cables Pérez. El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proyecto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procesa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7.734.679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procesos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contractuales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del Estado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colombiano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entre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enero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2020 y mayo de 2026,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aplica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siete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indicadores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red flag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calibrados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empíricamente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sobre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métricas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relativas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y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estadísticas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, y reduce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el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universo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auditoría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prioritaria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a 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cuatro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procesos</a:t>
            </a:r>
            <a:r>
              <a:rPr lang="en-US" b="1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1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críticos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 —seis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órdenes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magnitud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reducción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— bajo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el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marco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DAMA-DMBOK 2 con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presunción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de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inocencia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consagrada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en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el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b="0" i="0" dirty="0" err="1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Artículo</a:t>
            </a:r>
            <a:r>
              <a:rPr lang="en-US" b="0" i="0" dirty="0">
                <a:solidFill>
                  <a:srgbClr val="373734"/>
                </a:solidFill>
                <a:effectLst/>
                <a:latin typeface="Abadi" panose="020B0604020104020204" pitchFamily="34" charset="0"/>
              </a:rPr>
              <a:t> 29 de la Constitución."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D3919003-E2C3-5F83-0BBE-41DDB654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>
            <a:extLst>
              <a:ext uri="{FF2B5EF4-FFF2-40B4-BE49-F238E27FC236}">
                <a16:creationId xmlns:a16="http://schemas.microsoft.com/office/drawing/2014/main" id="{6D6C7334-B7D5-29D0-2ED7-CA390C822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97" name="Google Shape;97;p6:notes">
            <a:extLst>
              <a:ext uri="{FF2B5EF4-FFF2-40B4-BE49-F238E27FC236}">
                <a16:creationId xmlns:a16="http://schemas.microsoft.com/office/drawing/2014/main" id="{E6D50978-EAD6-7B5D-21EF-DDCE9089B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767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995AAC1-BCB2-5716-3B24-DD9597E4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C4A1B4E6-A318-28A5-7BB4-8D1ECC2EC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DA1120E9-448C-ABBA-473B-7ED381290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306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EC03EB6-7017-3A3C-1027-D33FDC67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B909C5BC-C55B-9516-F5A0-9AEC70803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29EE7F8A-D8FA-CA03-B538-F8BFA455A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209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5F1D77F-0CC0-F7A0-6BDE-0964981A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7B2BC575-52C8-966E-A91D-53BF08314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8903D8B4-13BB-0A08-3290-EDFF7CDA1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384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3C91D74-46FE-FA39-2C6F-771EAEB1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9E6C569-99AE-8DEC-506A-1010DD15C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0DBED03F-0E57-71D2-E2D2-CD2C5A1EE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349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D69B725-DD2A-DF1E-37FB-70B4E2B3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3BD5808-3BF4-A060-30FC-40E8269F6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AAB568BA-7487-076D-5996-1C69BED12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684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19473B9-3C4B-6139-15D4-255D3112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AED45D4-61D1-DAD2-2E6D-71E7557AD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62BCF2FD-7AA3-D699-B876-80AF56B5E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563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6D072D9-CDD3-F576-B213-2D2E8A1E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76D7D2D-4ADC-7AFF-54EE-A497D2E9B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30C4914A-4523-5FCA-A1EC-CE5B6292A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429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F0E113D-0ACF-B36E-6EB9-8C664E2F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A955876-3E5F-B6B0-BA07-339C334D5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480CC7AE-0F91-0461-460B-5A4C1A149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092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E4DE84F-EECC-8AE1-D85F-E5C6291E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4EA8F5F-7DF6-1666-528F-AB1E6C583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CABF5C05-D2C0-3F63-E362-4F4F2163E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68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F5F0715-2679-FBA3-2AB0-3477A463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4F343AD-07C3-D554-A41E-7F9F96A92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7013A9DC-8E9E-C04B-1C4D-1997EC39F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671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312B2AB-FADE-0D6A-2884-6880F399B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36ACD3A9-79A3-3649-FBFE-60BE2251D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52E3154C-763A-3A0D-EE05-5AC5A0464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366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94722EC-8D32-C2D0-A580-3B6A5354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3AB268D-FDFD-D3F0-59FA-F23CB1487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F1969D4E-F883-99F2-DCE2-48D54036F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330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li.edu.co/blog/poliverso/por-que-la-contratacion-estatal-es-clave-para-la-administracion-publica-en-colombia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presentacion ppt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"/>
            <a:ext cx="9143997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" title="presentacion ppt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60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1068645" y="1170936"/>
            <a:ext cx="6707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de posibles anomalías en la contratación estatal a partir de datos abiertos SECOP II</a:t>
            </a:r>
            <a:endParaRPr sz="2500" b="1" i="0" u="none" strike="noStrike" cap="none" dirty="0">
              <a:solidFill>
                <a:srgbClr val="1F1F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106813" y="3707745"/>
            <a:ext cx="4631063" cy="72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 de Sistemas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Especialización en Gobierno de Datos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Junio 2026</a:t>
            </a:r>
            <a:endParaRPr sz="1200" b="0" i="0" u="none" strike="noStrike" cap="none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435331" y="2831965"/>
            <a:ext cx="3974028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John Dagoberto Moyano Duarte</a:t>
            </a:r>
            <a:endParaRPr sz="2500" b="0" i="0" u="none" strike="noStrike" cap="none" dirty="0">
              <a:solidFill>
                <a:srgbClr val="1F1F4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" title="presentacion ppt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250088" y="903659"/>
            <a:ext cx="3731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Introducción</a:t>
            </a:r>
            <a:endParaRPr sz="2500" b="1" i="0" u="none" strike="noStrike" cap="none" dirty="0">
              <a:solidFill>
                <a:srgbClr val="1F1F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n 1" descr="718 contratos estatales fueron firmados ...">
            <a:extLst>
              <a:ext uri="{FF2B5EF4-FFF2-40B4-BE49-F238E27FC236}">
                <a16:creationId xmlns:a16="http://schemas.microsoft.com/office/drawing/2014/main" id="{E344094A-9F22-31BB-794A-8C9F6704D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8" y="1546398"/>
            <a:ext cx="2857500" cy="1600200"/>
          </a:xfrm>
          <a:prstGeom prst="rect">
            <a:avLst/>
          </a:prstGeom>
        </p:spPr>
      </p:pic>
      <p:pic>
        <p:nvPicPr>
          <p:cNvPr id="5" name="Imagen 4" descr="tipos de contratación estatal">
            <a:extLst>
              <a:ext uri="{FF2B5EF4-FFF2-40B4-BE49-F238E27FC236}">
                <a16:creationId xmlns:a16="http://schemas.microsoft.com/office/drawing/2014/main" id="{4847F938-8314-77A3-7207-72678A86B8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72" b="18509"/>
          <a:stretch>
            <a:fillRect/>
          </a:stretch>
        </p:blipFill>
        <p:spPr>
          <a:xfrm>
            <a:off x="4472087" y="1335433"/>
            <a:ext cx="2398899" cy="28210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C60293C-9A18-9EAB-D8B2-1C1575A3384E}"/>
              </a:ext>
            </a:extLst>
          </p:cNvPr>
          <p:cNvSpPr txBox="1"/>
          <p:nvPr/>
        </p:nvSpPr>
        <p:spPr>
          <a:xfrm>
            <a:off x="6546909" y="4475045"/>
            <a:ext cx="2513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Tomado de [1] </a:t>
            </a:r>
          </a:p>
        </p:txBody>
      </p:sp>
      <p:pic>
        <p:nvPicPr>
          <p:cNvPr id="7" name="Imagen 6" descr="Ley 1819 y el ICA para Profesiones ...">
            <a:extLst>
              <a:ext uri="{FF2B5EF4-FFF2-40B4-BE49-F238E27FC236}">
                <a16:creationId xmlns:a16="http://schemas.microsoft.com/office/drawing/2014/main" id="{1CD39A32-3A93-F213-BCE5-0A0634BAD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1945" y="3219037"/>
            <a:ext cx="1790480" cy="1256008"/>
          </a:xfrm>
          <a:prstGeom prst="rect">
            <a:avLst/>
          </a:prstGeom>
        </p:spPr>
      </p:pic>
      <p:pic>
        <p:nvPicPr>
          <p:cNvPr id="8" name="Imagen 7" descr="Nuevos parques infantiles en colegios ...">
            <a:extLst>
              <a:ext uri="{FF2B5EF4-FFF2-40B4-BE49-F238E27FC236}">
                <a16:creationId xmlns:a16="http://schemas.microsoft.com/office/drawing/2014/main" id="{294CEBDF-620C-954F-1290-67176CFCB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62" y="3262249"/>
            <a:ext cx="2202621" cy="12334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8900E4A-9901-1532-2123-1E30F79324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4623" y="2346498"/>
            <a:ext cx="2115912" cy="1080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" title="presentacion ppt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296410" y="949900"/>
            <a:ext cx="8728643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Descripción y formulación del problema</a:t>
            </a:r>
            <a:endParaRPr sz="2500" b="1" i="0" u="none" strike="noStrike" cap="none" dirty="0">
              <a:solidFill>
                <a:srgbClr val="1F1F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488830" y="2770292"/>
            <a:ext cx="3647563" cy="170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¿Cómo identificar posibles anomalías en la contratación estatal colombiana desde enero de 2020 hasta la actualidad a partir de los datos abiertos del SECOPII?</a:t>
            </a:r>
            <a:r>
              <a:rPr lang="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 b="0" i="0" u="none" strike="noStrike" cap="none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72744" y="1861091"/>
            <a:ext cx="3000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Formulación del problema</a:t>
            </a:r>
            <a:endParaRPr lang="es-CO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ACA95C-F5AB-073B-FB05-C022C6F11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490" y="1861091"/>
            <a:ext cx="3789413" cy="2523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" title="presentacion ppt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827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604759" y="1034802"/>
            <a:ext cx="34269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endParaRPr sz="2500" b="1" i="0" u="none" strike="noStrike" cap="none" dirty="0">
              <a:solidFill>
                <a:srgbClr val="1F1F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675239" y="1994100"/>
            <a:ext cx="8112798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solución analítica, basada en los principios del gobierno de datos, que permita extraer, integrar, procesar y visualizar la información del conjunto de datos abiertos SECOP II – Procesos de Contratación, con el fin de detectar posibles anomalías en la contratación estatal colombiana ocurridas desde enero de 2020 hasta la fecha de análisis.</a:t>
            </a:r>
            <a:endParaRPr sz="1800" b="0" i="0" u="none" strike="noStrike" cap="none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016557C-1E24-1BE7-FC64-F83ECB4E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" title="presentacion ppt-02.jpg">
            <a:extLst>
              <a:ext uri="{FF2B5EF4-FFF2-40B4-BE49-F238E27FC236}">
                <a16:creationId xmlns:a16="http://schemas.microsoft.com/office/drawing/2014/main" id="{64840FCF-0872-FE2D-3CB9-1694E26578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>
            <a:extLst>
              <a:ext uri="{FF2B5EF4-FFF2-40B4-BE49-F238E27FC236}">
                <a16:creationId xmlns:a16="http://schemas.microsoft.com/office/drawing/2014/main" id="{0008218C-0CDB-C204-58BB-95CC6586D75F}"/>
              </a:ext>
            </a:extLst>
          </p:cNvPr>
          <p:cNvSpPr txBox="1"/>
          <p:nvPr/>
        </p:nvSpPr>
        <p:spPr>
          <a:xfrm>
            <a:off x="385026" y="343087"/>
            <a:ext cx="5003838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O" sz="2500" b="1" i="0" u="none" strike="noStrike" cap="none" noProof="0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Objetivos</a:t>
            </a:r>
            <a:r>
              <a:rPr lang="en-U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CO" sz="2500" b="1" i="0" u="none" strike="noStrike" cap="none" noProof="0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Específicos</a:t>
            </a:r>
            <a:endParaRPr sz="2500" b="1" i="0" u="none" strike="noStrike" cap="none" dirty="0">
              <a:solidFill>
                <a:srgbClr val="1F1F4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6">
            <a:extLst>
              <a:ext uri="{FF2B5EF4-FFF2-40B4-BE49-F238E27FC236}">
                <a16:creationId xmlns:a16="http://schemas.microsoft.com/office/drawing/2014/main" id="{343F03AD-D994-0F33-E131-83FA29A2DF48}"/>
              </a:ext>
            </a:extLst>
          </p:cNvPr>
          <p:cNvSpPr txBox="1"/>
          <p:nvPr/>
        </p:nvSpPr>
        <p:spPr>
          <a:xfrm>
            <a:off x="515599" y="1295493"/>
            <a:ext cx="8112798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   Caracterizar el conjunto de datos “SECOP II – Procesos de Contratación” identificando estructura, calidad y campos relevantes para el análisis de anomalías.</a:t>
            </a:r>
            <a:b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s-ES" sz="18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 Materializar una arquitectura hacia un repositorio centralizado que permita el preprocesamiento de limpieza y modelado de un indicador de posibles anomalías en la contratación.</a:t>
            </a:r>
            <a:b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s-ES" sz="18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 Visualizar los hallazgos que permitan un análisis crítico y académico sobre los procesos de contratación adjudicados realizados en la plataforma SECOP II bajo los lineamientos de gobierno de datos del DAMA-DMBOK.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s-ES" sz="18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392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366627" y="281729"/>
            <a:ext cx="4418583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Marco Referencial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366627" y="848114"/>
            <a:ext cx="2505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Marco teórico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4E15FD-BC8E-6C7A-DD95-AD94CEB1A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034" y="1251025"/>
            <a:ext cx="4621966" cy="320788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335E58-6582-A669-0723-AB6AE9DD2A74}"/>
              </a:ext>
            </a:extLst>
          </p:cNvPr>
          <p:cNvSpPr txBox="1"/>
          <p:nvPr/>
        </p:nvSpPr>
        <p:spPr>
          <a:xfrm>
            <a:off x="365410" y="1445451"/>
            <a:ext cx="37627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chemeClr val="dk1"/>
                </a:solidFill>
                <a:latin typeface="Montserrat"/>
              </a:rPr>
              <a:t>Ordenamiento jurídico colombiano de contratación pública: </a:t>
            </a: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r>
              <a:rPr lang="es-ES" sz="1800" dirty="0">
                <a:solidFill>
                  <a:schemeClr val="dk1"/>
                </a:solidFill>
                <a:latin typeface="Montserrat"/>
              </a:rPr>
              <a:t>- Ley 80 de 1993, </a:t>
            </a: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r>
              <a:rPr lang="es-ES" sz="1800" dirty="0">
                <a:solidFill>
                  <a:schemeClr val="dk1"/>
                </a:solidFill>
                <a:latin typeface="Montserrat"/>
              </a:rPr>
              <a:t>- Ley 1150 de 2007, </a:t>
            </a: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r>
              <a:rPr lang="es-ES" sz="1800" dirty="0">
                <a:solidFill>
                  <a:schemeClr val="dk1"/>
                </a:solidFill>
                <a:latin typeface="Montserrat"/>
              </a:rPr>
              <a:t>- Decreto 1082 de 2015 y </a:t>
            </a: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r>
              <a:rPr lang="es-ES" sz="1800" dirty="0">
                <a:solidFill>
                  <a:schemeClr val="dk1"/>
                </a:solidFill>
                <a:latin typeface="Montserrat"/>
              </a:rPr>
              <a:t>- Ley 2195 de 2022, </a:t>
            </a: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br>
              <a:rPr lang="es-ES" sz="1800" dirty="0">
                <a:solidFill>
                  <a:schemeClr val="dk1"/>
                </a:solidFill>
                <a:latin typeface="Montserrat"/>
              </a:rPr>
            </a:br>
            <a:r>
              <a:rPr lang="es-ES" sz="1800" dirty="0">
                <a:solidFill>
                  <a:schemeClr val="dk1"/>
                </a:solidFill>
                <a:latin typeface="Montserrat"/>
              </a:rPr>
              <a:t>que definen las modalidades de contratación, los umbrales de cuantía y las obligaciones de publicación. </a:t>
            </a:r>
            <a:endParaRPr lang="es-CO" sz="1800" dirty="0">
              <a:solidFill>
                <a:schemeClr val="dk1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68CF270-6728-8246-3EF2-F3E1FE1C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8635B893-8062-40CC-DAC1-A4902F619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34FC46D4-5263-3AA5-943A-DEFC923243F3}"/>
              </a:ext>
            </a:extLst>
          </p:cNvPr>
          <p:cNvSpPr txBox="1"/>
          <p:nvPr/>
        </p:nvSpPr>
        <p:spPr>
          <a:xfrm>
            <a:off x="299720" y="526944"/>
            <a:ext cx="4418583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Marco Referencial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156158AC-ACF2-6F1D-0436-82B43844F133}"/>
              </a:ext>
            </a:extLst>
          </p:cNvPr>
          <p:cNvSpPr txBox="1"/>
          <p:nvPr/>
        </p:nvSpPr>
        <p:spPr>
          <a:xfrm>
            <a:off x="299720" y="966325"/>
            <a:ext cx="2505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Marco teórico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5545FD-6919-2B43-42B7-AD8C5A03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90" y="1427146"/>
            <a:ext cx="3379659" cy="3385506"/>
          </a:xfrm>
          <a:prstGeom prst="rect">
            <a:avLst/>
          </a:prstGeom>
        </p:spPr>
      </p:pic>
      <p:pic>
        <p:nvPicPr>
          <p:cNvPr id="4" name="Imagen 3" descr="La metodología CRISP-DM en ciencia de datos - IIC">
            <a:extLst>
              <a:ext uri="{FF2B5EF4-FFF2-40B4-BE49-F238E27FC236}">
                <a16:creationId xmlns:a16="http://schemas.microsoft.com/office/drawing/2014/main" id="{B48C9938-1544-472F-16F1-FB3A166DD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3" y="1385780"/>
            <a:ext cx="3617114" cy="34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8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CF9164C-D90B-3214-AF30-5A6E9CF9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923EA009-DA88-C398-3160-E161779D10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30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BA64E927-7D5A-2BB3-537A-D47192338D68}"/>
              </a:ext>
            </a:extLst>
          </p:cNvPr>
          <p:cNvSpPr txBox="1"/>
          <p:nvPr/>
        </p:nvSpPr>
        <p:spPr>
          <a:xfrm>
            <a:off x="299720" y="526944"/>
            <a:ext cx="4418583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Marco Referencial: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23119F25-C186-1A84-513C-80A020801E4A}"/>
              </a:ext>
            </a:extLst>
          </p:cNvPr>
          <p:cNvSpPr txBox="1"/>
          <p:nvPr/>
        </p:nvSpPr>
        <p:spPr>
          <a:xfrm>
            <a:off x="3429495" y="526944"/>
            <a:ext cx="344709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Estado del arte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D0A36FE-8566-DD23-5DBB-3943E86D8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369975"/>
              </p:ext>
            </p:extLst>
          </p:nvPr>
        </p:nvGraphicFramePr>
        <p:xfrm>
          <a:off x="299720" y="1096300"/>
          <a:ext cx="8229600" cy="3678842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593245">
                  <a:extLst>
                    <a:ext uri="{9D8B030D-6E8A-4147-A177-3AD203B41FA5}">
                      <a16:colId xmlns:a16="http://schemas.microsoft.com/office/drawing/2014/main" val="4265584072"/>
                    </a:ext>
                  </a:extLst>
                </a:gridCol>
                <a:gridCol w="1582888">
                  <a:extLst>
                    <a:ext uri="{9D8B030D-6E8A-4147-A177-3AD203B41FA5}">
                      <a16:colId xmlns:a16="http://schemas.microsoft.com/office/drawing/2014/main" val="1704855069"/>
                    </a:ext>
                  </a:extLst>
                </a:gridCol>
                <a:gridCol w="1582888">
                  <a:extLst>
                    <a:ext uri="{9D8B030D-6E8A-4147-A177-3AD203B41FA5}">
                      <a16:colId xmlns:a16="http://schemas.microsoft.com/office/drawing/2014/main" val="827934508"/>
                    </a:ext>
                  </a:extLst>
                </a:gridCol>
                <a:gridCol w="1582888">
                  <a:extLst>
                    <a:ext uri="{9D8B030D-6E8A-4147-A177-3AD203B41FA5}">
                      <a16:colId xmlns:a16="http://schemas.microsoft.com/office/drawing/2014/main" val="2040434223"/>
                    </a:ext>
                  </a:extLst>
                </a:gridCol>
                <a:gridCol w="1887691">
                  <a:extLst>
                    <a:ext uri="{9D8B030D-6E8A-4147-A177-3AD203B41FA5}">
                      <a16:colId xmlns:a16="http://schemas.microsoft.com/office/drawing/2014/main" val="440030951"/>
                    </a:ext>
                  </a:extLst>
                </a:gridCol>
              </a:tblGrid>
              <a:tr h="337724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Criterio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Fazekas-Tóth (2016)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Ferwerda-</a:t>
                      </a:r>
                      <a:r>
                        <a:rPr lang="es-CO" sz="1100" b="0" u="none" strike="noStrike" cap="none" dirty="0" err="1">
                          <a:solidFill>
                            <a:schemeClr val="bg1"/>
                          </a:solidFill>
                          <a:sym typeface="Arial"/>
                        </a:rPr>
                        <a:t>Deleanu</a:t>
                      </a: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 (2017)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OCP (2018)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Esta tesis (2026)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1106027748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Tipo de modelo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Índice compuesto único (CRI)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Regresión logística supervisada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Reglas binarias OCDS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Reglas heurísticas + índice compuesto + DAMA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4121373206"/>
                  </a:ext>
                </a:extLst>
              </a:tr>
              <a:tr h="359441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Dependencia de ground truth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Baja (no requiere casos confirmados)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Alta (requiere etiquetas)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Ninguna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Ninguna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5923015"/>
                  </a:ext>
                </a:extLst>
              </a:tr>
              <a:tr h="371707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Interpretabilidad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Media (opaca a auditor)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Baja (caja gris)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Alta (reglas explícitas)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Alta (8 reglas trazables + DAMA documentado)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4103839423"/>
                  </a:ext>
                </a:extLst>
              </a:tr>
              <a:tr h="379142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Sistema fuente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TED-EU (datos europeos)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TED-EU (datos europeos)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OCDS (cualquier país)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SECOP II Colombia (API Socrata)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3670460534"/>
                  </a:ext>
                </a:extLst>
              </a:tr>
              <a:tr h="401444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Universo evaluado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2,5M procesos 28 países UE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2,9M procesos UE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Variable por país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7,73M procesos Colombia 2020-2026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2716562128"/>
                  </a:ext>
                </a:extLst>
              </a:tr>
              <a:tr h="468351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Validación reportada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AUC vs casos OLAF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Precision-recall vs OLAF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Adopción por gobiernos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VPP teórico 89%, contraste casos públicos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255672173"/>
                  </a:ext>
                </a:extLst>
              </a:tr>
              <a:tr h="446633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Defensibilidad jurídica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Limitada (índice opaco)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Limitada (modelo no interpretable)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Alta (regla auditable)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Alta (regla SQL + linaje DAMA)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3028844652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Implementación técnica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Python (académica)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>
                          <a:solidFill>
                            <a:schemeClr val="dk1"/>
                          </a:solidFill>
                          <a:sym typeface="Arial"/>
                        </a:rPr>
                        <a:t>Stata (académica)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JS/Python (operacional)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tc>
                  <a:txBody>
                    <a:bodyPr/>
                    <a:lstStyle/>
                    <a:p>
                      <a:pPr marR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1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SQL Server + Python + Power BI (operacional)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29531" marR="29531" marT="0" marB="0"/>
                </a:tc>
                <a:extLst>
                  <a:ext uri="{0D108BD9-81ED-4DB2-BD59-A6C34878D82A}">
                    <a16:rowId xmlns:a16="http://schemas.microsoft.com/office/drawing/2014/main" val="2096661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046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15F0105-8BC3-9561-307C-C2106D69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9ECD0FC7-6BAC-8A8B-7179-37F6F2313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257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E38B2E54-923E-8407-DE62-CBE624B29F56}"/>
              </a:ext>
            </a:extLst>
          </p:cNvPr>
          <p:cNvSpPr txBox="1"/>
          <p:nvPr/>
        </p:nvSpPr>
        <p:spPr>
          <a:xfrm>
            <a:off x="369257" y="367617"/>
            <a:ext cx="4418583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Metodología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CA1A91F-2BF8-296C-31CB-0D0058623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579" y="1107103"/>
            <a:ext cx="6884523" cy="2553728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94CDA81-67FD-A53A-8693-9097BD7E4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73654"/>
              </p:ext>
            </p:extLst>
          </p:nvPr>
        </p:nvGraphicFramePr>
        <p:xfrm>
          <a:off x="1272022" y="3710605"/>
          <a:ext cx="6728401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5487">
                  <a:extLst>
                    <a:ext uri="{9D8B030D-6E8A-4147-A177-3AD203B41FA5}">
                      <a16:colId xmlns:a16="http://schemas.microsoft.com/office/drawing/2014/main" val="2950686199"/>
                    </a:ext>
                  </a:extLst>
                </a:gridCol>
                <a:gridCol w="1729156">
                  <a:extLst>
                    <a:ext uri="{9D8B030D-6E8A-4147-A177-3AD203B41FA5}">
                      <a16:colId xmlns:a16="http://schemas.microsoft.com/office/drawing/2014/main" val="2411972085"/>
                    </a:ext>
                  </a:extLst>
                </a:gridCol>
                <a:gridCol w="1632787">
                  <a:extLst>
                    <a:ext uri="{9D8B030D-6E8A-4147-A177-3AD203B41FA5}">
                      <a16:colId xmlns:a16="http://schemas.microsoft.com/office/drawing/2014/main" val="667949808"/>
                    </a:ext>
                  </a:extLst>
                </a:gridCol>
                <a:gridCol w="1680971">
                  <a:extLst>
                    <a:ext uri="{9D8B030D-6E8A-4147-A177-3AD203B41FA5}">
                      <a16:colId xmlns:a16="http://schemas.microsoft.com/office/drawing/2014/main" val="4040738891"/>
                    </a:ext>
                  </a:extLst>
                </a:gridCol>
              </a:tblGrid>
              <a:tr h="281299">
                <a:tc>
                  <a:txBody>
                    <a:bodyPr/>
                    <a:lstStyle/>
                    <a:p>
                      <a:pPr algn="ctr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Comprensión del negocio y de los datos</a:t>
                      </a:r>
                      <a:endParaRPr lang="es-CO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Preparación de datos</a:t>
                      </a:r>
                      <a:endParaRPr lang="es-CO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Modelado </a:t>
                      </a:r>
                      <a:endParaRPr lang="es-CO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Evaluación / Implementación </a:t>
                      </a:r>
                      <a:endParaRPr lang="es-CO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364516"/>
                  </a:ext>
                </a:extLst>
              </a:tr>
              <a:tr h="492272">
                <a:tc>
                  <a:txBody>
                    <a:bodyPr/>
                    <a:lstStyle/>
                    <a:p>
                      <a:pPr algn="l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Arquitectura de datos,                - Gestión de metadatos,              - Datos de referencia</a:t>
                      </a:r>
                      <a:endParaRPr lang="es-CO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Almacenamiento y Operaciones</a:t>
                      </a:r>
                      <a:b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Integración e interoperabilidad</a:t>
                      </a:r>
                      <a:b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Calidad de los datos</a:t>
                      </a:r>
                      <a:endParaRPr lang="es-CO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Modelado y diseño datos,            - Gobernanza de modelos,            - Datos maestros y de referencia</a:t>
                      </a:r>
                      <a:endParaRPr lang="es-CO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9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 Calidad de los datos,                - Seguridad de los datos,            - Documentación y gestión de contenido,</a:t>
                      </a:r>
                      <a:endParaRPr lang="es-CO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087519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FC70F61-7B32-2486-8CCB-C18756BB7C08}"/>
              </a:ext>
            </a:extLst>
          </p:cNvPr>
          <p:cNvSpPr txBox="1"/>
          <p:nvPr/>
        </p:nvSpPr>
        <p:spPr>
          <a:xfrm>
            <a:off x="369257" y="868150"/>
            <a:ext cx="5211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Enfoque investigativo descriptivo-exploratorio aplicado</a:t>
            </a:r>
          </a:p>
        </p:txBody>
      </p:sp>
    </p:spTree>
    <p:extLst>
      <p:ext uri="{BB962C8B-B14F-4D97-AF65-F5344CB8AC3E}">
        <p14:creationId xmlns:p14="http://schemas.microsoft.com/office/powerpoint/2010/main" val="2842127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426F2B0-FAE0-2A9C-E70E-93D7DBE0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77E9C9A2-CC43-C1A6-B0D8-EEFB73E9BE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4026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D99D4599-BB45-F04E-33C9-52291536BE57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056BA9F-34F4-76A9-5103-75EF685E01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9" t="35868" r="77780" b="28198"/>
          <a:stretch>
            <a:fillRect/>
          </a:stretch>
        </p:blipFill>
        <p:spPr>
          <a:xfrm>
            <a:off x="1161256" y="1601931"/>
            <a:ext cx="1530927" cy="969818"/>
          </a:xfrm>
          <a:prstGeom prst="rect">
            <a:avLst/>
          </a:prstGeom>
        </p:spPr>
      </p:pic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801C4BF5-41EF-00C9-422D-6F86383B8B12}"/>
              </a:ext>
            </a:extLst>
          </p:cNvPr>
          <p:cNvSpPr txBox="1"/>
          <p:nvPr/>
        </p:nvSpPr>
        <p:spPr>
          <a:xfrm>
            <a:off x="426720" y="998282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1: Identificación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DAFE4F-5433-2F91-70B3-E3B8BF9D4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1" y="2645776"/>
            <a:ext cx="3370082" cy="1917775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7A8A939-37B8-E415-E7C6-EB3854C4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59801"/>
              </p:ext>
            </p:extLst>
          </p:nvPr>
        </p:nvGraphicFramePr>
        <p:xfrm>
          <a:off x="3724507" y="1229132"/>
          <a:ext cx="5352586" cy="3466919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219295">
                  <a:extLst>
                    <a:ext uri="{9D8B030D-6E8A-4147-A177-3AD203B41FA5}">
                      <a16:colId xmlns:a16="http://schemas.microsoft.com/office/drawing/2014/main" val="905175631"/>
                    </a:ext>
                  </a:extLst>
                </a:gridCol>
                <a:gridCol w="3133291">
                  <a:extLst>
                    <a:ext uri="{9D8B030D-6E8A-4147-A177-3AD203B41FA5}">
                      <a16:colId xmlns:a16="http://schemas.microsoft.com/office/drawing/2014/main" val="3254488652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bg1"/>
                          </a:solidFill>
                          <a:latin typeface="Montserrat"/>
                          <a:cs typeface="Arial"/>
                          <a:sym typeface="Arial"/>
                        </a:rPr>
                        <a:t>Atributo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bg1"/>
                          </a:solidFill>
                          <a:latin typeface="Montserrat"/>
                          <a:cs typeface="Arial"/>
                          <a:sym typeface="Arial"/>
                        </a:rPr>
                        <a:t>Valor</a:t>
                      </a:r>
                      <a:endParaRPr lang="en-US" sz="1100" b="0" i="0" u="none" strike="noStrike" cap="none" dirty="0">
                        <a:solidFill>
                          <a:schemeClr val="bg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144263"/>
                  </a:ext>
                </a:extLst>
              </a:tr>
              <a:tr h="5130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Nombre del conjunto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SECOP II – Procesos de Contratación. Estadísticas Nacionales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5000626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Identificador Socrata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p6dx-8zbt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794503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URL fuente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datos.gov.co/resource/p6dx-8zbt.json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640505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Entidad publicadora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Colombia Compra Eficiente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008379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Fecha de creación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30 de septiembre de 2019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3923790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Periodicidad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Diaria (actualización incremental)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7832521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Columnas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59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4080847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Filas reportadas por la fuente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Más de 8,64 millones a mayo de 2026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7437423"/>
                  </a:ext>
                </a:extLst>
              </a:tr>
              <a:tr h="5130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Ventana sincronizada en este proyecto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1 de enero de 2020 – 20 de mayo de 2026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231779"/>
                  </a:ext>
                </a:extLst>
              </a:tr>
              <a:tr h="2408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Filas efectivamente persistidas</a:t>
                      </a:r>
                      <a:endParaRPr lang="en-US" sz="11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cs typeface="Arial"/>
                          <a:sym typeface="Arial"/>
                        </a:rPr>
                        <a:t>7.734.679 procesos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Trebuchet MS" panose="020B060302020202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702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030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AC03571-0C39-A153-EAEA-61D199DE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8E55FBF8-3C53-1B3D-228A-C93F66A00B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931F9D49-6E40-13BA-3901-65BEE8C37540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985C76BD-6313-97BF-5EB0-30DF55DE5D9C}"/>
              </a:ext>
            </a:extLst>
          </p:cNvPr>
          <p:cNvSpPr txBox="1"/>
          <p:nvPr/>
        </p:nvSpPr>
        <p:spPr>
          <a:xfrm>
            <a:off x="426720" y="998282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1: Identificación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085FB6-7A61-8AB6-A7BA-A77BAAF302C0}"/>
              </a:ext>
            </a:extLst>
          </p:cNvPr>
          <p:cNvSpPr txBox="1"/>
          <p:nvPr/>
        </p:nvSpPr>
        <p:spPr>
          <a:xfrm>
            <a:off x="297335" y="1516743"/>
            <a:ext cx="770920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s-CO" dirty="0">
                <a:solidFill>
                  <a:srgbClr val="1F1F41"/>
                </a:solidFill>
                <a:latin typeface="Montserrat Medium"/>
              </a:rPr>
              <a:t>De las 59 columnas del conjunto, se identifican 22 campos críticos para la detección de anomalías, agrupados en siete dimensiones funcionales: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s-CO" b="1" dirty="0">
                <a:solidFill>
                  <a:srgbClr val="1F1F41"/>
                </a:solidFill>
                <a:highlight>
                  <a:srgbClr val="C0C0C0"/>
                </a:highlight>
                <a:latin typeface="Montserrat Medium"/>
              </a:rPr>
              <a:t>Identificación del proceso: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id_del_proceso, url_proceso.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O" b="1" dirty="0">
                <a:solidFill>
                  <a:srgbClr val="1F1F41"/>
                </a:solidFill>
                <a:highlight>
                  <a:srgbClr val="FF00FF"/>
                </a:highlight>
                <a:latin typeface="Montserrat Medium"/>
              </a:rPr>
              <a:t>Actores: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entidad, nit_entidad, nombre_del_proveedor, nit_del_proveedor_adjudicado.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O" dirty="0">
                <a:solidFill>
                  <a:srgbClr val="1F1F41"/>
                </a:solidFill>
                <a:highlight>
                  <a:srgbClr val="FFFF00"/>
                </a:highlight>
                <a:latin typeface="Montserrat Medium"/>
              </a:rPr>
              <a:t>Modalidad y procedimiento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: modalidad_de_contratacion, justificacion_modalidad_de, tipo_de_contrato, estado_del_procedimiento.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O" dirty="0">
                <a:solidFill>
                  <a:srgbClr val="1F1F41"/>
                </a:solidFill>
                <a:highlight>
                  <a:srgbClr val="00FF00"/>
                </a:highlight>
                <a:latin typeface="Montserrat Medium"/>
              </a:rPr>
              <a:t>Monetarios: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precio_base, valor_total_adjudicacion, valor_contrato.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O" dirty="0">
                <a:solidFill>
                  <a:srgbClr val="1F1F41"/>
                </a:solidFill>
                <a:highlight>
                  <a:srgbClr val="00FFFF"/>
                </a:highlight>
                <a:latin typeface="Montserrat Medium"/>
              </a:rPr>
              <a:t>Temporales: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fecha_de_publicacion_del, fecha_adjudicacion, fecha_de_firma, fecha_de_inicio_del_contrato, fecha_de_fin_del_contrato.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O" dirty="0">
                <a:solidFill>
                  <a:srgbClr val="1F1F41"/>
                </a:solidFill>
                <a:highlight>
                  <a:srgbClr val="FF0000"/>
                </a:highlight>
                <a:latin typeface="Montserrat Medium"/>
              </a:rPr>
              <a:t>Competencia: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conteo_de_respuestas_a_ofertas, numero_de_oferentes_recibidos.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CO" dirty="0">
                <a:solidFill>
                  <a:srgbClr val="1F1F41"/>
                </a:solidFill>
                <a:highlight>
                  <a:srgbClr val="808000"/>
                </a:highlight>
                <a:latin typeface="Montserrat Medium"/>
              </a:rPr>
              <a:t>Ubicación: </a:t>
            </a:r>
            <a:r>
              <a:rPr lang="es-CO" dirty="0">
                <a:solidFill>
                  <a:srgbClr val="1F1F41"/>
                </a:solidFill>
                <a:latin typeface="Montserrat Medium"/>
              </a:rPr>
              <a:t>departamento_entidad, ciudad_entidad.</a:t>
            </a:r>
            <a:endParaRPr lang="en-US" dirty="0">
              <a:solidFill>
                <a:srgbClr val="1F1F41"/>
              </a:solidFill>
              <a:latin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887511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B3C5C70-2C2A-F93A-CC58-9CA62921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6A639A5E-7701-35F1-EFC2-BE0886D770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AB342179-14A1-CD00-3B6D-3397A93E2C0A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AFFEFCDF-D36B-6ED2-61AB-79BBF8C186D6}"/>
              </a:ext>
            </a:extLst>
          </p:cNvPr>
          <p:cNvSpPr txBox="1"/>
          <p:nvPr/>
        </p:nvSpPr>
        <p:spPr>
          <a:xfrm>
            <a:off x="426719" y="998282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2: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Preprocesamiento y almacenamiento de 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E4D3640-4C5A-EAEE-CE77-5E3E2750B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54737"/>
              </p:ext>
            </p:extLst>
          </p:nvPr>
        </p:nvGraphicFramePr>
        <p:xfrm>
          <a:off x="708291" y="1459917"/>
          <a:ext cx="5394966" cy="334621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037494">
                  <a:extLst>
                    <a:ext uri="{9D8B030D-6E8A-4147-A177-3AD203B41FA5}">
                      <a16:colId xmlns:a16="http://schemas.microsoft.com/office/drawing/2014/main" val="112162807"/>
                    </a:ext>
                  </a:extLst>
                </a:gridCol>
                <a:gridCol w="1729156">
                  <a:extLst>
                    <a:ext uri="{9D8B030D-6E8A-4147-A177-3AD203B41FA5}">
                      <a16:colId xmlns:a16="http://schemas.microsoft.com/office/drawing/2014/main" val="1629253848"/>
                    </a:ext>
                  </a:extLst>
                </a:gridCol>
                <a:gridCol w="2628316">
                  <a:extLst>
                    <a:ext uri="{9D8B030D-6E8A-4147-A177-3AD203B41FA5}">
                      <a16:colId xmlns:a16="http://schemas.microsoft.com/office/drawing/2014/main" val="3130029849"/>
                    </a:ext>
                  </a:extLst>
                </a:gridCol>
              </a:tblGrid>
              <a:tr h="2070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Esquema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Propósito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 dirty="0">
                          <a:effectLst/>
                        </a:rPr>
                        <a:t>Objetos clave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extLst>
                  <a:ext uri="{0D108BD9-81ED-4DB2-BD59-A6C34878D82A}">
                    <a16:rowId xmlns:a16="http://schemas.microsoft.com/office/drawing/2014/main" val="3601765414"/>
                  </a:ext>
                </a:extLst>
              </a:tr>
              <a:tr h="37463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 dirty="0" err="1">
                          <a:effectLst/>
                        </a:rPr>
                        <a:t>staging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Réplica de la fuente sin reglas de negocio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staging.secop_ii_procesos (tabla espejo del API)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extLst>
                  <a:ext uri="{0D108BD9-81ED-4DB2-BD59-A6C34878D82A}">
                    <a16:rowId xmlns:a16="http://schemas.microsoft.com/office/drawing/2014/main" val="3355807684"/>
                  </a:ext>
                </a:extLst>
              </a:tr>
              <a:tr h="5421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dwh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Modelo dimensional en estrella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fact_contratacion, dim_entidad, dim_proveedor, dim_modalidad, dim_tiempo, sp_cargar_dwh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extLst>
                  <a:ext uri="{0D108BD9-81ED-4DB2-BD59-A6C34878D82A}">
                    <a16:rowId xmlns:a16="http://schemas.microsoft.com/office/drawing/2014/main" val="705397890"/>
                  </a:ext>
                </a:extLst>
              </a:tr>
              <a:tr h="1380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ind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Indicadores y vistas semánticas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v_sobrecosto, v_oferente_unico, v_concentracion_prov_ent, v_fraccionamiento, v_modalidad_no_competitiva, v_urgencia_manifiesta, v_tiempo_atipico, v_plazo_corto, v_contrato_repetido, alertas_proceso, riesgo_corrupcion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extLst>
                  <a:ext uri="{0D108BD9-81ED-4DB2-BD59-A6C34878D82A}">
                    <a16:rowId xmlns:a16="http://schemas.microsoft.com/office/drawing/2014/main" val="2926785715"/>
                  </a:ext>
                </a:extLst>
              </a:tr>
              <a:tr h="7097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meta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>
                          <a:effectLst/>
                        </a:rPr>
                        <a:t>Gobierno de datos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900" dirty="0" err="1">
                          <a:effectLst/>
                        </a:rPr>
                        <a:t>catalogo_reglas</a:t>
                      </a:r>
                      <a:r>
                        <a:rPr lang="es-CO" sz="900" dirty="0">
                          <a:effectLst/>
                        </a:rPr>
                        <a:t>, </a:t>
                      </a:r>
                      <a:r>
                        <a:rPr lang="es-CO" sz="900" dirty="0" err="1">
                          <a:effectLst/>
                        </a:rPr>
                        <a:t>schema_migrations</a:t>
                      </a:r>
                      <a:r>
                        <a:rPr lang="es-CO" sz="900" dirty="0">
                          <a:effectLst/>
                        </a:rPr>
                        <a:t>, </a:t>
                      </a:r>
                      <a:r>
                        <a:rPr lang="es-CO" sz="900" dirty="0" err="1">
                          <a:effectLst/>
                        </a:rPr>
                        <a:t>audit_log</a:t>
                      </a:r>
                      <a:r>
                        <a:rPr lang="es-CO" sz="900" dirty="0">
                          <a:effectLst/>
                        </a:rPr>
                        <a:t>, </a:t>
                      </a:r>
                      <a:r>
                        <a:rPr lang="es-CO" sz="900" dirty="0" err="1">
                          <a:effectLst/>
                        </a:rPr>
                        <a:t>backup_log</a:t>
                      </a:r>
                      <a:r>
                        <a:rPr lang="es-CO" sz="900" dirty="0">
                          <a:effectLst/>
                        </a:rPr>
                        <a:t>, </a:t>
                      </a:r>
                      <a:r>
                        <a:rPr lang="es-CO" sz="900" dirty="0" err="1">
                          <a:effectLst/>
                        </a:rPr>
                        <a:t>calidad_metricas</a:t>
                      </a:r>
                      <a:r>
                        <a:rPr lang="es-CO" sz="900" dirty="0">
                          <a:effectLst/>
                        </a:rPr>
                        <a:t>, </a:t>
                      </a:r>
                      <a:r>
                        <a:rPr lang="es-CO" sz="900" dirty="0" err="1">
                          <a:effectLst/>
                        </a:rPr>
                        <a:t>clasificacion_sensibilidad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55006" marR="55006" marT="36670" marB="36670"/>
                </a:tc>
                <a:extLst>
                  <a:ext uri="{0D108BD9-81ED-4DB2-BD59-A6C34878D82A}">
                    <a16:rowId xmlns:a16="http://schemas.microsoft.com/office/drawing/2014/main" val="2633171011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F7E05764-C846-0A65-C3C5-66957AA44F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80"/>
          <a:stretch>
            <a:fillRect/>
          </a:stretch>
        </p:blipFill>
        <p:spPr bwMode="auto">
          <a:xfrm>
            <a:off x="7139575" y="819139"/>
            <a:ext cx="1394829" cy="39869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36963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7DD4138-623B-5DD5-42D9-C305FDE13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131B3801-D67D-67DF-2F2C-56C0986904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B6D0D054-79B3-FBAF-08C1-459CDB0413BB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B3162D8D-7576-8E55-689B-0C30490E2A1D}"/>
              </a:ext>
            </a:extLst>
          </p:cNvPr>
          <p:cNvSpPr txBox="1"/>
          <p:nvPr/>
        </p:nvSpPr>
        <p:spPr>
          <a:xfrm>
            <a:off x="297335" y="808705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2: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Preprocesamiento y almacenamiento de 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888094-5BBC-DE8C-FD27-92A4EDB0CF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80"/>
          <a:stretch>
            <a:fillRect/>
          </a:stretch>
        </p:blipFill>
        <p:spPr bwMode="auto">
          <a:xfrm>
            <a:off x="536302" y="1384420"/>
            <a:ext cx="1219928" cy="34870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B3A027F-0C21-7F25-C38B-9B39FB297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261" y="1459917"/>
            <a:ext cx="2486025" cy="305943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8A075F-839D-482D-FB54-2F8172F2D853}"/>
              </a:ext>
            </a:extLst>
          </p:cNvPr>
          <p:cNvSpPr txBox="1"/>
          <p:nvPr/>
        </p:nvSpPr>
        <p:spPr>
          <a:xfrm>
            <a:off x="1618343" y="4457762"/>
            <a:ext cx="345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Capa1: Fuente; Capa2: Extracción; </a:t>
            </a:r>
            <a:br>
              <a:rPr lang="es-CO" dirty="0"/>
            </a:br>
            <a:r>
              <a:rPr lang="es-CO" dirty="0"/>
              <a:t>Capa3: Almacenamiento en SQL Server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120135-3FCF-432D-B3CB-6A7F2EBEE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024" y="1745679"/>
            <a:ext cx="2443480" cy="29222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E90CA6A-02C0-CCA9-2462-91CA65B27E8A}"/>
              </a:ext>
            </a:extLst>
          </p:cNvPr>
          <p:cNvSpPr txBox="1"/>
          <p:nvPr/>
        </p:nvSpPr>
        <p:spPr>
          <a:xfrm>
            <a:off x="4787174" y="1384420"/>
            <a:ext cx="244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4: Analítica.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7AB94B-9747-F3D2-A7C9-8022EAB453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822"/>
          <a:stretch>
            <a:fillRect/>
          </a:stretch>
        </p:blipFill>
        <p:spPr>
          <a:xfrm>
            <a:off x="7122436" y="1039522"/>
            <a:ext cx="2486025" cy="27432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CDE4C96-6707-DB17-8F16-73AAC918446E}"/>
              </a:ext>
            </a:extLst>
          </p:cNvPr>
          <p:cNvSpPr txBox="1"/>
          <p:nvPr/>
        </p:nvSpPr>
        <p:spPr>
          <a:xfrm>
            <a:off x="7318060" y="4013539"/>
            <a:ext cx="209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5: Gobernanza transversal.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E0B4CA-E088-20E1-2577-A8789E29670F}"/>
              </a:ext>
            </a:extLst>
          </p:cNvPr>
          <p:cNvSpPr txBox="1"/>
          <p:nvPr/>
        </p:nvSpPr>
        <p:spPr>
          <a:xfrm>
            <a:off x="7470460" y="4165939"/>
            <a:ext cx="209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Capa 5: Gobernanza transversal.</a:t>
            </a:r>
          </a:p>
        </p:txBody>
      </p:sp>
    </p:spTree>
    <p:extLst>
      <p:ext uri="{BB962C8B-B14F-4D97-AF65-F5344CB8AC3E}">
        <p14:creationId xmlns:p14="http://schemas.microsoft.com/office/powerpoint/2010/main" val="83651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D0D535E-5191-819A-AAD9-7F57431D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05AE50E2-A6A9-D90E-7EDE-91FAB9F946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4684FD40-DC6F-E648-19BC-2BAF9CF32C05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7A280B00-D677-C4C5-BCF8-EAFDAB1EFB6C}"/>
              </a:ext>
            </a:extLst>
          </p:cNvPr>
          <p:cNvSpPr txBox="1"/>
          <p:nvPr/>
        </p:nvSpPr>
        <p:spPr>
          <a:xfrm>
            <a:off x="426719" y="998282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2: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Preprocesamiento y almacenamiento de 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23ACA3A-00F0-42DE-9278-6721B3039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296" y="1521226"/>
            <a:ext cx="4061407" cy="332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6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F05CDD9-4C5B-D25E-4712-D7469CBA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AAEE9F0C-B628-3748-2EB2-40B777E7F4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19" y="-2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A3B9AB7C-E300-181E-2D56-AF5B4D7BCB79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DA62CDA2-C318-839E-A495-6B221DBA536E}"/>
              </a:ext>
            </a:extLst>
          </p:cNvPr>
          <p:cNvSpPr txBox="1"/>
          <p:nvPr/>
        </p:nvSpPr>
        <p:spPr>
          <a:xfrm>
            <a:off x="426719" y="998282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3: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Procesamiento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5B2EE88-31EC-EC05-46F5-7727A3112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13029"/>
              </p:ext>
            </p:extLst>
          </p:nvPr>
        </p:nvGraphicFramePr>
        <p:xfrm>
          <a:off x="4186644" y="891348"/>
          <a:ext cx="4198632" cy="384728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067350">
                  <a:extLst>
                    <a:ext uri="{9D8B030D-6E8A-4147-A177-3AD203B41FA5}">
                      <a16:colId xmlns:a16="http://schemas.microsoft.com/office/drawing/2014/main" val="335199769"/>
                    </a:ext>
                  </a:extLst>
                </a:gridCol>
                <a:gridCol w="1046154">
                  <a:extLst>
                    <a:ext uri="{9D8B030D-6E8A-4147-A177-3AD203B41FA5}">
                      <a16:colId xmlns:a16="http://schemas.microsoft.com/office/drawing/2014/main" val="2344147332"/>
                    </a:ext>
                  </a:extLst>
                </a:gridCol>
                <a:gridCol w="861396">
                  <a:extLst>
                    <a:ext uri="{9D8B030D-6E8A-4147-A177-3AD203B41FA5}">
                      <a16:colId xmlns:a16="http://schemas.microsoft.com/office/drawing/2014/main" val="527213307"/>
                    </a:ext>
                  </a:extLst>
                </a:gridCol>
                <a:gridCol w="1223732">
                  <a:extLst>
                    <a:ext uri="{9D8B030D-6E8A-4147-A177-3AD203B41FA5}">
                      <a16:colId xmlns:a16="http://schemas.microsoft.com/office/drawing/2014/main" val="3720688621"/>
                    </a:ext>
                  </a:extLst>
                </a:gridCol>
              </a:tblGrid>
              <a:tr h="2347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INDICADOR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DEFINICIÓN OPERATIVA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PESO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FUENTE TEÓRICA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981023502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Sobrecosto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Valor adjudicado supera el precio base en 20 % o más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3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(OCDE, 2016) (Fazekas, Tóth, &amp; King, 2016)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3483021972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Oferente único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Licitación pública o selección abreviada con ≤ 1 oferta recibida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3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(Fazekas, Tóth, &amp; King, 2016)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1790338310"/>
                  </a:ext>
                </a:extLst>
              </a:tr>
              <a:tr h="4686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Concentración proveedor–entidad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Un proveedor concentra ≥ 50 % del valor adjudicado por la entidad (n ≥ 3)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3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effectLst/>
                        </a:rPr>
                        <a:t>(The World Bank, 2020)</a:t>
                      </a:r>
                      <a:br>
                        <a:rPr lang="en-US" sz="500" dirty="0">
                          <a:effectLst/>
                        </a:rPr>
                      </a:br>
                      <a:r>
                        <a:rPr lang="en-US" sz="500" dirty="0">
                          <a:effectLst/>
                        </a:rPr>
                        <a:t> (Fazekas, Tóth, &amp; King, 2016)</a:t>
                      </a:r>
                      <a:endParaRPr lang="es-CO" dirty="0"/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2751126118"/>
                  </a:ext>
                </a:extLst>
              </a:tr>
              <a:tr h="4686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Fraccionamiento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Mismo par entidad–proveedor con ≥ 5 contratos en rango de baja cuantía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(OCDE, 2016) </a:t>
                      </a:r>
                      <a:br>
                        <a:rPr lang="es-CO" sz="500">
                          <a:effectLst/>
                        </a:rPr>
                      </a:br>
                      <a:r>
                        <a:rPr lang="es-CO" sz="500">
                          <a:effectLst/>
                        </a:rPr>
                        <a:t>Ley 2195 de 2022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3750426072"/>
                  </a:ext>
                </a:extLst>
              </a:tr>
              <a:tr h="4672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Contratos repetidos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≥ 5 contratos históricos entre el mismo par entidad–proveedor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2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(Fazekas, Tóth, &amp; King, 2016)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2747061187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Modalidad no competitiva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Contratación directa o mínima cuantía con valor ≥ COP 80 M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2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Ley 1150 de 2007; </a:t>
                      </a:r>
                      <a:br>
                        <a:rPr lang="es-CO" sz="500">
                          <a:effectLst/>
                        </a:rPr>
                      </a:br>
                      <a:r>
                        <a:rPr lang="es-CO" sz="500">
                          <a:effectLst/>
                        </a:rPr>
                        <a:t>Decreto 1082/15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3726579809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Urgencia manifiesta sospechosa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Urgencia con valor ≥ COP 200 M o plazo pub.–adj. ≤ 3 días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2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Ley 80/93 art. 42;</a:t>
                      </a:r>
                      <a:br>
                        <a:rPr lang="es-CO" sz="500" dirty="0">
                          <a:effectLst/>
                        </a:rPr>
                      </a:br>
                      <a:r>
                        <a:rPr lang="es-CO" sz="500" dirty="0">
                          <a:effectLst/>
                        </a:rPr>
                        <a:t> (OCDE, 2016)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3491112435"/>
                  </a:ext>
                </a:extLst>
              </a:tr>
              <a:tr h="4686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Tiempo atípico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Z-score de log(días pub.–adj.) por modalidad fuera de [-2,5 ; 2,5]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(Chandola, Banerjee, &amp; Kumar, 2009)</a:t>
                      </a:r>
                      <a:br>
                        <a:rPr lang="es-CO" sz="500" dirty="0">
                          <a:effectLst/>
                        </a:rPr>
                      </a:br>
                      <a:r>
                        <a:rPr lang="es-CO" sz="500" dirty="0">
                          <a:effectLst/>
                        </a:rPr>
                        <a:t>(Fazekas, Tóth, &amp; King, 2016)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455961185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Plazo corto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Días pub.–adj. por debajo del mínimo legal según modalidad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>
                          <a:effectLst/>
                        </a:rPr>
                        <a:t>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CO" sz="500" dirty="0">
                          <a:effectLst/>
                        </a:rPr>
                        <a:t>Decreto 1082/15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</a:endParaRPr>
                    </a:p>
                  </a:txBody>
                  <a:tcPr marL="34389" marR="34389" marT="0" marB="0" anchor="ctr"/>
                </a:tc>
                <a:extLst>
                  <a:ext uri="{0D108BD9-81ED-4DB2-BD59-A6C34878D82A}">
                    <a16:rowId xmlns:a16="http://schemas.microsoft.com/office/drawing/2014/main" val="3194064636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47965E2-0D52-BB80-2691-FF572A0F5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375884"/>
              </p:ext>
            </p:extLst>
          </p:nvPr>
        </p:nvGraphicFramePr>
        <p:xfrm>
          <a:off x="682172" y="2814993"/>
          <a:ext cx="3301998" cy="173718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00666">
                  <a:extLst>
                    <a:ext uri="{9D8B030D-6E8A-4147-A177-3AD203B41FA5}">
                      <a16:colId xmlns:a16="http://schemas.microsoft.com/office/drawing/2014/main" val="3143419517"/>
                    </a:ext>
                  </a:extLst>
                </a:gridCol>
                <a:gridCol w="1100666">
                  <a:extLst>
                    <a:ext uri="{9D8B030D-6E8A-4147-A177-3AD203B41FA5}">
                      <a16:colId xmlns:a16="http://schemas.microsoft.com/office/drawing/2014/main" val="1314694896"/>
                    </a:ext>
                  </a:extLst>
                </a:gridCol>
                <a:gridCol w="1100666">
                  <a:extLst>
                    <a:ext uri="{9D8B030D-6E8A-4147-A177-3AD203B41FA5}">
                      <a16:colId xmlns:a16="http://schemas.microsoft.com/office/drawing/2014/main" val="1890525625"/>
                    </a:ext>
                  </a:extLst>
                </a:gridCol>
              </a:tblGrid>
              <a:tr h="19054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NIVEL DE RIESGO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CRITERIO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INTERPRETACIÓN OPERATIVA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6513003"/>
                  </a:ext>
                </a:extLst>
              </a:tr>
              <a:tr h="467913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Alto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Índice ≥ 6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Procesos con tres o más banderas convergentes — prioridad de auditoría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2750705"/>
                  </a:ext>
                </a:extLst>
              </a:tr>
              <a:tr h="467913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Medio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Índice 3 – 5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Procesos con dos banderas o una de severidad alta — monitoreo activo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1538570"/>
                  </a:ext>
                </a:extLst>
              </a:tr>
              <a:tr h="30540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Bajo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Índice 1 – 2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Una bandera aislada — revisión de oficio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319992"/>
                  </a:ext>
                </a:extLst>
              </a:tr>
              <a:tr h="30540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Sin riesgo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Índice = 0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500" b="1" u="none" strike="noStrike" cap="none" dirty="0">
                          <a:solidFill>
                            <a:schemeClr val="lt1"/>
                          </a:solidFill>
                          <a:effectLst/>
                          <a:sym typeface="Arial"/>
                        </a:rPr>
                        <a:t>Ninguna bandera activa — observación estándar</a:t>
                      </a:r>
                      <a:endParaRPr lang="en-US" sz="500" b="1" i="0" u="none" strike="noStrike" cap="non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5848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64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3DAA4FF-5FE8-4E39-30A5-C74E5037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4AA0D51B-B129-F5A5-32C5-BEB58B73F9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19" y="-2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323CBEF4-48A7-6FA3-4DCB-3564FE30CB45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6D723CF3-FDE5-88B7-9305-E4B669C4414B}"/>
              </a:ext>
            </a:extLst>
          </p:cNvPr>
          <p:cNvSpPr txBox="1"/>
          <p:nvPr/>
        </p:nvSpPr>
        <p:spPr>
          <a:xfrm>
            <a:off x="426719" y="998282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</a:t>
            </a:r>
            <a:r>
              <a:rPr lang="es" sz="1800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Visualización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315007-4498-632A-A852-1605B99EB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561" y="1396765"/>
            <a:ext cx="6334058" cy="343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3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A403D14-1C87-AD84-8C98-DEE2C485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500A5332-B4D0-A1D0-024C-23B08C2E08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19" y="-2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0C0E0B3E-644F-0AD3-9F74-C75D55189075}"/>
              </a:ext>
            </a:extLst>
          </p:cNvPr>
          <p:cNvSpPr txBox="1"/>
          <p:nvPr/>
        </p:nvSpPr>
        <p:spPr>
          <a:xfrm>
            <a:off x="297335" y="367617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propuesta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F38FC1BC-835C-F6CE-C5BE-3731F6BC5391}"/>
              </a:ext>
            </a:extLst>
          </p:cNvPr>
          <p:cNvSpPr txBox="1"/>
          <p:nvPr/>
        </p:nvSpPr>
        <p:spPr>
          <a:xfrm>
            <a:off x="426719" y="998282"/>
            <a:ext cx="7519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Fase </a:t>
            </a:r>
            <a:r>
              <a:rPr lang="es" sz="1800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r>
              <a:rPr lang="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s-ES" sz="1800" b="0" i="0" u="none" strike="noStrike" cap="none" dirty="0">
                <a:solidFill>
                  <a:srgbClr val="1F1F4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Visualización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AA2112-49C5-0091-AAAA-FDE4332D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140" y="1229099"/>
            <a:ext cx="5804646" cy="22341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D6A489-EEB6-ABD2-096B-A9214732F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92" y="1398936"/>
            <a:ext cx="3002413" cy="35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56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C5B74FA-9907-CCAF-C096-8A764D64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 title="presentacion ppt-02.jpg">
            <a:extLst>
              <a:ext uri="{FF2B5EF4-FFF2-40B4-BE49-F238E27FC236}">
                <a16:creationId xmlns:a16="http://schemas.microsoft.com/office/drawing/2014/main" id="{8956BD38-5B66-D2C6-7366-4663757694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19" y="-2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CA5E473D-AFDF-F748-8FC2-BC37427298F9}"/>
              </a:ext>
            </a:extLst>
          </p:cNvPr>
          <p:cNvSpPr txBox="1"/>
          <p:nvPr/>
        </p:nvSpPr>
        <p:spPr>
          <a:xfrm>
            <a:off x="373535" y="428926"/>
            <a:ext cx="5711579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1F1F41"/>
                </a:solidFill>
                <a:latin typeface="Montserrat"/>
                <a:ea typeface="Montserrat"/>
                <a:cs typeface="Montserrat"/>
                <a:sym typeface="Montserrat"/>
              </a:rPr>
              <a:t>Referencias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3;p4">
            <a:extLst>
              <a:ext uri="{FF2B5EF4-FFF2-40B4-BE49-F238E27FC236}">
                <a16:creationId xmlns:a16="http://schemas.microsoft.com/office/drawing/2014/main" id="{225F5755-F692-2296-6CCC-4F55C473664B}"/>
              </a:ext>
            </a:extLst>
          </p:cNvPr>
          <p:cNvSpPr txBox="1"/>
          <p:nvPr/>
        </p:nvSpPr>
        <p:spPr>
          <a:xfrm>
            <a:off x="863137" y="998282"/>
            <a:ext cx="7519851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800"/>
            </a:pPr>
            <a:r>
              <a:rPr lang="es-CO" sz="1800" dirty="0">
                <a:solidFill>
                  <a:srgbClr val="1F1F41"/>
                </a:solidFill>
                <a:latin typeface="Montserrat Medium"/>
                <a:sym typeface="Montserrat Medium"/>
              </a:rPr>
              <a:t>[1] </a:t>
            </a:r>
            <a:r>
              <a:rPr lang="en-US" sz="1800" dirty="0"/>
              <a:t>Politécnico </a:t>
            </a:r>
            <a:r>
              <a:rPr lang="en-US" sz="1800" dirty="0" err="1"/>
              <a:t>Grancolombiano</a:t>
            </a:r>
            <a:r>
              <a:rPr lang="en-US" sz="1800" dirty="0"/>
              <a:t>. (2024, 6 de </a:t>
            </a:r>
            <a:r>
              <a:rPr lang="en-US" sz="1800" dirty="0" err="1"/>
              <a:t>febrero</a:t>
            </a:r>
            <a:r>
              <a:rPr lang="en-US" sz="1800" dirty="0"/>
              <a:t>). </a:t>
            </a:r>
            <a:r>
              <a:rPr lang="en-US" sz="1800" i="1" dirty="0"/>
              <a:t>¿Por </a:t>
            </a:r>
            <a:r>
              <a:rPr lang="en-US" sz="1800" i="1" dirty="0" err="1"/>
              <a:t>qué</a:t>
            </a:r>
            <a:r>
              <a:rPr lang="en-US" sz="1800" i="1" dirty="0"/>
              <a:t> la </a:t>
            </a:r>
            <a:r>
              <a:rPr lang="en-US" sz="1800" i="1" dirty="0" err="1"/>
              <a:t>contratación</a:t>
            </a:r>
            <a:r>
              <a:rPr lang="en-US" sz="1800" i="1" dirty="0"/>
              <a:t> </a:t>
            </a:r>
            <a:r>
              <a:rPr lang="en-US" sz="1800" i="1" dirty="0" err="1"/>
              <a:t>estatal</a:t>
            </a:r>
            <a:r>
              <a:rPr lang="en-US" sz="1800" i="1" dirty="0"/>
              <a:t> es clave para la </a:t>
            </a:r>
            <a:r>
              <a:rPr lang="en-US" sz="1800" i="1" dirty="0" err="1"/>
              <a:t>administración</a:t>
            </a:r>
            <a:r>
              <a:rPr lang="en-US" sz="1800" i="1" dirty="0"/>
              <a:t> </a:t>
            </a:r>
            <a:r>
              <a:rPr lang="en-US" sz="1800" i="1" dirty="0" err="1"/>
              <a:t>pública</a:t>
            </a:r>
            <a:r>
              <a:rPr lang="en-US" sz="1800" i="1" dirty="0"/>
              <a:t> </a:t>
            </a:r>
            <a:r>
              <a:rPr lang="en-US" sz="1800" i="1" dirty="0" err="1"/>
              <a:t>en</a:t>
            </a:r>
            <a:r>
              <a:rPr lang="en-US" sz="1800" i="1" dirty="0"/>
              <a:t> Colombia?</a:t>
            </a:r>
            <a:r>
              <a:rPr lang="en-US" sz="1800" dirty="0"/>
              <a:t> </a:t>
            </a:r>
            <a:r>
              <a:rPr lang="en-US" sz="1800" dirty="0" err="1"/>
              <a:t>Poliverso</a:t>
            </a:r>
            <a:r>
              <a:rPr lang="en-US" sz="1800" dirty="0"/>
              <a:t>. </a:t>
            </a:r>
            <a:r>
              <a:rPr lang="en-US" sz="1800" dirty="0">
                <a:hlinkClick r:id="rId4"/>
              </a:rPr>
              <a:t>https://www.poli.edu.co/blog/poliverso/por-que-la-contratacion-estatal-es-clave-para-la-administracion-publica-en-colombia</a:t>
            </a:r>
            <a:r>
              <a:rPr lang="es-CO" sz="1800" dirty="0">
                <a:solidFill>
                  <a:srgbClr val="1F1F41"/>
                </a:solidFill>
                <a:latin typeface="Montserrat Medium"/>
                <a:sym typeface="Montserrat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0545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7" title="presentacion pp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160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1597</Words>
  <Application>Microsoft Office PowerPoint</Application>
  <PresentationFormat>Presentación en pantalla (16:9)</PresentationFormat>
  <Paragraphs>201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Abadi</vt:lpstr>
      <vt:lpstr>Arial</vt:lpstr>
      <vt:lpstr>Montserrat</vt:lpstr>
      <vt:lpstr>Montserrat Medium</vt:lpstr>
      <vt:lpstr>Symbol</vt:lpstr>
      <vt:lpstr>Times New Roman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Moyano</dc:creator>
  <cp:lastModifiedBy>John Moyano</cp:lastModifiedBy>
  <cp:revision>13</cp:revision>
  <dcterms:modified xsi:type="dcterms:W3CDTF">2026-10-24T20:20:04Z</dcterms:modified>
</cp:coreProperties>
</file>